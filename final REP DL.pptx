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embeddedFontLst>
    <p:embeddedFont>
      <p:font typeface="Heebo" pitchFamily="2" charset="-79"/>
      <p:regular r:id="rId22"/>
      <p:bold r:id="rId23"/>
    </p:embeddedFont>
    <p:embeddedFont>
      <p:font typeface="Heebo ExtraBold" pitchFamily="2" charset="-79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1D9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40BE5CC-F8BA-4D73-AC29-CB71A29912DC}">
  <a:tblStyle styleId="{140BE5CC-F8BA-4D73-AC29-CB71A29912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L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27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90687"/>
            <a:ext cx="1160145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F5F5F5"/>
                </a:solidFill>
                <a:latin typeface="Heebo"/>
                <a:ea typeface="Heebo"/>
                <a:cs typeface="Heebo"/>
                <a:sym typeface="Heebo"/>
              </a:rPr>
              <a:t>Driver Drowsiness Detection using </a:t>
            </a:r>
            <a:r>
              <a:rPr lang="en-US" sz="4875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Deep Learning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338512"/>
            <a:ext cx="11049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B949E"/>
                </a:solidFill>
                <a:latin typeface="Heebo"/>
                <a:ea typeface="Heebo"/>
                <a:cs typeface="Heebo"/>
                <a:sym typeface="Heebo"/>
              </a:rPr>
              <a:t>Presenting comprehensive research, convolutional architectures, and the development of a real-time accident prevention 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100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NOY LEIBOVITCH, MATAN DALAL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38687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DEEP LEARNING | HIT - IDAN TOBIS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-17427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7753350" y="2157412"/>
            <a:ext cx="386715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20%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7727751" y="3177468"/>
            <a:ext cx="38671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מהתאונות הקטלניות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409944" y="1433513"/>
            <a:ext cx="714089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הבנת הגורם האנושי והצורך במערכות סיוע אקטיביות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946548"/>
            <a:ext cx="64674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גורם מוביל</a:t>
            </a:r>
            <a:r>
              <a:rPr lang="he-IL" sz="1500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עייפות נהגים מהווה את אחד הגורמים המובילים והקטלניים בתאונות דרכים ברחבי העולם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כ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-1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מכל 5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תאונות חמורות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).</a:t>
            </a:r>
            <a:endParaRPr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633413" y="2702546"/>
            <a:ext cx="64674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שינה זעירה</a:t>
            </a:r>
            <a:r>
              <a:rPr lang="he-IL" sz="1500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תופעת ה"שינה הזעירה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"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(Micro-sleep) גורמת לאובדן שליטה מוחלט לאורך עשרות מטרים.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682228" y="3412778"/>
            <a:ext cx="64674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מערכות פסיביות אינן מספיקות: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מערכות בטיחות פסיביות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חגורות, כריות אוויר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מטפלות בתוצאות במקום במניעה.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82228" y="4129001"/>
            <a:ext cx="646747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הצורך: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נדרש פתרון טכנולוגי בתוך הקבינה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לניטור רציף ובלתי תלוי של פני הנהג.</a:t>
            </a:r>
            <a:endParaRPr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905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רקע והגדרת הבעיה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00900" y="1991874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5669" y="2769394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2819" y="350378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18905" y="4200525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69334" y="179553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1781175" y="1593652"/>
            <a:ext cx="8629650" cy="2714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האם ניתן לזהות באופן אוטונומי סימני עייפות מוקדמים בפני הנהג</a:t>
            </a:r>
            <a:r>
              <a:rPr lang="he-IL" sz="3150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, ברמת דיוק העולה על         , </a:t>
            </a:r>
            <a:r>
              <a:rPr lang="en-US" sz="3150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באמצעות ראייה ממוחשבת בזמן אמת ועל בסיס חומרת קצה סטנדרטית</a:t>
            </a:r>
            <a:r>
              <a:rPr lang="he-IL" sz="3150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?</a:t>
            </a:r>
            <a:endParaRPr dirty="0"/>
          </a:p>
        </p:txBody>
      </p:sp>
      <p:sp>
        <p:nvSpPr>
          <p:cNvPr id="112" name="Google Shape;112;p15"/>
          <p:cNvSpPr txBox="1"/>
          <p:nvPr/>
        </p:nvSpPr>
        <p:spPr>
          <a:xfrm>
            <a:off x="4295775" y="4572897"/>
            <a:ext cx="360045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 </a:t>
            </a:r>
            <a:r>
              <a:rPr lang="en-US" sz="165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הגדרת שאלת המחקר המרכזית בפרויקט</a:t>
            </a:r>
            <a:endParaRPr dirty="0"/>
          </a:p>
        </p:txBody>
      </p:sp>
      <p:sp>
        <p:nvSpPr>
          <p:cNvPr id="113" name="Google Shape;113;p15"/>
          <p:cNvSpPr txBox="1"/>
          <p:nvPr/>
        </p:nvSpPr>
        <p:spPr>
          <a:xfrm>
            <a:off x="10677525" y="2713732"/>
            <a:ext cx="304800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0363D"/>
                </a:solidFill>
                <a:latin typeface="Heebo"/>
                <a:ea typeface="Heebo"/>
                <a:cs typeface="Heebo"/>
                <a:sym typeface="Heebo"/>
              </a:rPr>
              <a:t>"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1209675" y="4572897"/>
            <a:ext cx="304800" cy="14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0363D"/>
                </a:solidFill>
                <a:latin typeface="Heebo"/>
                <a:ea typeface="Heebo"/>
                <a:cs typeface="Heebo"/>
                <a:sym typeface="Heebo"/>
              </a:rPr>
              <a:t>"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295275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השערה ושאלת מחקר</a:t>
            </a:r>
            <a:endParaRPr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6F2C6494-74B8-AFB8-3FE5-EFF17CA57BCF}"/>
              </a:ext>
            </a:extLst>
          </p:cNvPr>
          <p:cNvSpPr txBox="1"/>
          <p:nvPr/>
        </p:nvSpPr>
        <p:spPr>
          <a:xfrm>
            <a:off x="2334684" y="2373865"/>
            <a:ext cx="1774825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50" dirty="0">
                <a:solidFill>
                  <a:srgbClr val="DEFF9A"/>
                </a:solidFill>
                <a:latin typeface="Heebo" pitchFamily="2" charset="-79"/>
                <a:cs typeface="Heebo" pitchFamily="2" charset="-79"/>
              </a:rPr>
              <a:t>95%</a:t>
            </a:r>
            <a:endParaRPr lang="en-IL" sz="3150" dirty="0">
              <a:solidFill>
                <a:srgbClr val="DEFF9A"/>
              </a:solidFill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304925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304925"/>
            <a:ext cx="3492549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1304925"/>
            <a:ext cx="3492549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8995664" y="2339459"/>
            <a:ext cx="17571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דיוק ואמינות</a:t>
            </a:r>
            <a:endParaRPr sz="2400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255000" y="2795111"/>
            <a:ext cx="3166533" cy="1707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</a:rPr>
              <a:t>פיתוח ואימון מודל                      מתקדם המבחין באופן אבסולוטי בין נהג עירני לעייף, תוך צמצום התראות שווא למינימום האפשרי.</a:t>
            </a:r>
          </a:p>
        </p:txBody>
      </p:sp>
      <p:sp>
        <p:nvSpPr>
          <p:cNvPr id="126" name="Google Shape;126;p16"/>
          <p:cNvSpPr txBox="1"/>
          <p:nvPr/>
        </p:nvSpPr>
        <p:spPr>
          <a:xfrm>
            <a:off x="4931614" y="2339459"/>
            <a:ext cx="24556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חישוב בזמן אמת</a:t>
            </a:r>
            <a:endParaRPr sz="2400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4653510" y="2702778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</a:rPr>
              <a:t>הבטחת קצב עיבוד נתונים של מעל 30 פריימים בשנייה(</a:t>
            </a:r>
            <a:r>
              <a:rPr lang="en-US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</a:rPr>
              <a:t>FPS</a:t>
            </a:r>
            <a:r>
              <a:rPr lang="he-IL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</a:rPr>
              <a:t>)          על מנת לאפשר התראה שבריר שנייה לפני התחרשות אסון.</a:t>
            </a:r>
            <a:endParaRPr sz="1800" dirty="0">
              <a:solidFill>
                <a:srgbClr val="C9D1D9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134533" y="2339459"/>
            <a:ext cx="2225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ישימות מסחרית</a:t>
            </a:r>
            <a:endParaRPr sz="2400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866625" y="2702777"/>
            <a:ext cx="2901999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  <a:sym typeface="Heebo"/>
              </a:rPr>
              <a:t>תכנון מודל קל-משקל מבחינת צריכת זיכרון(</a:t>
            </a:r>
            <a:r>
              <a:rPr lang="en-US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  <a:sym typeface="Heebo"/>
              </a:rPr>
              <a:t>Edge AI</a:t>
            </a:r>
            <a:r>
              <a:rPr lang="he-IL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  <a:sym typeface="Heebo"/>
              </a:rPr>
              <a:t>), הניתן להטמעה נוחה במצלמות רכב ללא תלות בחיבור רשת</a:t>
            </a:r>
            <a:endParaRPr sz="1800" dirty="0">
              <a:solidFill>
                <a:srgbClr val="C9D1D9"/>
              </a:solidFill>
              <a:latin typeface="Heebo" pitchFamily="2" charset="-79"/>
              <a:cs typeface="Heebo" pitchFamily="2" charset="-79"/>
            </a:endParaRPr>
          </a:p>
        </p:txBody>
      </p:sp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5699" y="1676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975" y="16764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9100" y="16764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1905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מטרות ויעדי הפרויקט</a:t>
            </a:r>
            <a:endParaRPr dirty="0"/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861A280A-EDD5-0AC8-9B3F-D3E2B921124C}"/>
              </a:ext>
            </a:extLst>
          </p:cNvPr>
          <p:cNvSpPr txBox="1"/>
          <p:nvPr/>
        </p:nvSpPr>
        <p:spPr>
          <a:xfrm>
            <a:off x="8127948" y="2850634"/>
            <a:ext cx="276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9D1D9"/>
                </a:solidFill>
                <a:latin typeface="Heebo" pitchFamily="2" charset="-79"/>
                <a:cs typeface="Heebo" pitchFamily="2" charset="-79"/>
              </a:rPr>
              <a:t>Deep Learning</a:t>
            </a:r>
            <a:endParaRPr lang="en-IL" sz="1800" dirty="0">
              <a:solidFill>
                <a:srgbClr val="C9D1D9"/>
              </a:solidFill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1495425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50000"/>
              </a:lnSpc>
            </a:pPr>
            <a:r>
              <a:rPr lang="en-US" sz="1800" i="0" u="none" strike="noStrike" cap="none" dirty="0">
                <a:solidFill>
                  <a:schemeClr val="bg1"/>
                </a:solidFill>
                <a:latin typeface="Heebo" pitchFamily="2" charset="-79"/>
                <a:ea typeface="Segoe UI Black" panose="020B0A02040204020203" pitchFamily="34" charset="0"/>
                <a:cs typeface="Heebo" pitchFamily="2" charset="-79"/>
                <a:sym typeface="Heebo"/>
              </a:rPr>
              <a:t> </a:t>
            </a:r>
            <a:r>
              <a:rPr lang="he-IL" sz="1800" b="1" i="0" u="none" strike="noStrike" cap="none" dirty="0">
                <a:solidFill>
                  <a:schemeClr val="bg1"/>
                </a:solidFill>
                <a:latin typeface="Heebo" pitchFamily="2" charset="-79"/>
                <a:ea typeface="Segoe UI Black" panose="020B0A02040204020203" pitchFamily="34" charset="0"/>
                <a:cs typeface="Heebo" pitchFamily="2" charset="-79"/>
                <a:sym typeface="Heebo"/>
              </a:rPr>
              <a:t>1. מחקר נתונים: </a:t>
            </a:r>
            <a:r>
              <a:rPr lang="en-US" sz="1800" i="0" u="none" strike="noStrike" cap="none" dirty="0">
                <a:solidFill>
                  <a:schemeClr val="bg1"/>
                </a:solidFill>
                <a:latin typeface="Heebo" pitchFamily="2" charset="-79"/>
                <a:ea typeface="Segoe UI Black" panose="020B0A02040204020203" pitchFamily="34" charset="0"/>
                <a:cs typeface="Heebo" pitchFamily="2" charset="-79"/>
                <a:sym typeface="Heebo"/>
              </a:rPr>
              <a:t>הבאת נתוני התמונו</a:t>
            </a:r>
            <a:r>
              <a:rPr lang="he-IL" sz="1800" i="0" u="none" strike="noStrike" cap="none" dirty="0">
                <a:solidFill>
                  <a:schemeClr val="bg1"/>
                </a:solidFill>
                <a:latin typeface="Heebo" pitchFamily="2" charset="-79"/>
                <a:ea typeface="Segoe UI Black" panose="020B0A02040204020203" pitchFamily="34" charset="0"/>
                <a:cs typeface="Heebo" pitchFamily="2" charset="-79"/>
                <a:sym typeface="Heebo"/>
              </a:rPr>
              <a:t>ת, </a:t>
            </a:r>
            <a:r>
              <a:rPr lang="en-US" sz="1800" dirty="0">
                <a:solidFill>
                  <a:schemeClr val="bg1"/>
                </a:solidFill>
                <a:latin typeface="Heebo" pitchFamily="2" charset="-79"/>
                <a:ea typeface="Segoe UI Black" panose="020B0A02040204020203" pitchFamily="34" charset="0"/>
                <a:cs typeface="Heebo" pitchFamily="2" charset="-79"/>
                <a:sym typeface="Heebo"/>
              </a:rPr>
              <a:t>ביצוע סינון וניקוי רעשים סטטיסטי מבסיס הנתונים הקיים</a:t>
            </a:r>
            <a:r>
              <a:rPr lang="he-IL" sz="1800" dirty="0">
                <a:solidFill>
                  <a:schemeClr val="bg1"/>
                </a:solidFill>
                <a:latin typeface="Heebo" pitchFamily="2" charset="-79"/>
                <a:ea typeface="Segoe UI Black" panose="020B0A02040204020203" pitchFamily="34" charset="0"/>
                <a:cs typeface="Heebo" pitchFamily="2" charset="-79"/>
                <a:sym typeface="Heebo"/>
              </a:rPr>
              <a:t>.</a:t>
            </a:r>
            <a:endParaRPr sz="1800" dirty="0">
              <a:solidFill>
                <a:schemeClr val="bg1"/>
              </a:solidFill>
              <a:latin typeface="Heebo" pitchFamily="2" charset="-79"/>
              <a:ea typeface="Segoe UI Black" panose="020B0A02040204020203" pitchFamily="34" charset="0"/>
              <a:cs typeface="Heebo" pitchFamily="2" charset="-79"/>
            </a:endParaRPr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2047875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dirty="0">
                <a:solidFill>
                  <a:srgbClr val="FFFFFF"/>
                </a:solidFill>
                <a:latin typeface="Heebo" pitchFamily="2" charset="-79"/>
                <a:cs typeface="Heebo" pitchFamily="2" charset="-79"/>
                <a:sym typeface="Heebo"/>
              </a:rPr>
              <a:t>2. עיבוד מקדים: </a:t>
            </a:r>
            <a:r>
              <a:rPr lang="he-IL" sz="1800" dirty="0">
                <a:solidFill>
                  <a:srgbClr val="FFFFFF"/>
                </a:solidFill>
                <a:latin typeface="Heebo" pitchFamily="2" charset="-79"/>
                <a:cs typeface="Heebo" pitchFamily="2" charset="-79"/>
                <a:sym typeface="Heebo"/>
              </a:rPr>
              <a:t>אוגמנטציה, נרמל וחיתוך                  כדי לחזק את עמידות המודל לתאורה ומנחים שונים.</a:t>
            </a:r>
            <a:endParaRPr sz="1800" b="1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457200" y="2600325"/>
            <a:ext cx="108299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3. בניית מודלים: </a:t>
            </a:r>
            <a:r>
              <a:rPr lang="he-IL" sz="1800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כתיבת קוד                לארכיטקטורות          שונות למציאת האכיטקטורה האופטימלית והיציבה ביותר.</a:t>
            </a:r>
            <a:endParaRPr sz="1800" b="1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571500" y="3152775"/>
            <a:ext cx="107156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dirty="0">
                <a:solidFill>
                  <a:srgbClr val="FFFFFF"/>
                </a:solidFill>
                <a:latin typeface="Heebo" pitchFamily="2" charset="-79"/>
                <a:cs typeface="Heebo" pitchFamily="2" charset="-79"/>
                <a:sym typeface="Heebo"/>
              </a:rPr>
              <a:t>4. אימון והערכה: </a:t>
            </a:r>
            <a:r>
              <a:rPr lang="he-IL" sz="1800" dirty="0">
                <a:solidFill>
                  <a:srgbClr val="FFFFFF"/>
                </a:solidFill>
                <a:latin typeface="Heebo" pitchFamily="2" charset="-79"/>
                <a:cs typeface="Heebo" pitchFamily="2" charset="-79"/>
                <a:sym typeface="Heebo"/>
              </a:rPr>
              <a:t>הרצת ה-              , כוונון היפר-פרמטרים ובחינת מדדי ההצלחה                                      .</a:t>
            </a:r>
            <a:endParaRPr sz="1800"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שלבי העבודה (Methodology)</a:t>
            </a:r>
            <a:endParaRPr dirty="0"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06200" y="14763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06200" y="20288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06200" y="25812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06200" y="3133725"/>
            <a:ext cx="1143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C3FDACCE-12C2-7BC8-CBF8-AC7C89592B88}"/>
              </a:ext>
            </a:extLst>
          </p:cNvPr>
          <p:cNvSpPr txBox="1"/>
          <p:nvPr/>
        </p:nvSpPr>
        <p:spPr>
          <a:xfrm>
            <a:off x="1736794" y="3198941"/>
            <a:ext cx="3624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(Accuracy, F1, Loss)</a:t>
            </a:r>
            <a:endParaRPr lang="en-IL" sz="1800" dirty="0">
              <a:solidFill>
                <a:schemeClr val="bg1"/>
              </a:solidFill>
            </a:endParaRPr>
          </a:p>
        </p:txBody>
      </p:sp>
      <p:pic>
        <p:nvPicPr>
          <p:cNvPr id="4" name="תמונה 3" descr="תמונה שמכילה גופן, גרפיקה, לוגו, שחור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2C70786D-B354-197F-29D1-7D3C0DC06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6244" y="2055283"/>
            <a:ext cx="1329043" cy="493819"/>
          </a:xfrm>
          <a:prstGeom prst="rect">
            <a:avLst/>
          </a:prstGeom>
        </p:spPr>
      </p:pic>
      <p:pic>
        <p:nvPicPr>
          <p:cNvPr id="8" name="תמונה 7" descr="תמונה שמכילה טקסט, גופן, גרפיקה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54E59C92-C422-369C-C55B-42B4667CA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7949" y="2600325"/>
            <a:ext cx="1140051" cy="493819"/>
          </a:xfrm>
          <a:prstGeom prst="rect">
            <a:avLst/>
          </a:prstGeom>
        </p:spPr>
      </p:pic>
      <p:pic>
        <p:nvPicPr>
          <p:cNvPr id="10" name="תמונה 9" descr="תמונה שמכילה גופן, גרפיקה, טקסט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6182107-E2D2-3B70-3C04-EE6919A4A2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9603" y="2600324"/>
            <a:ext cx="774259" cy="493819"/>
          </a:xfrm>
          <a:prstGeom prst="rect">
            <a:avLst/>
          </a:prstGeom>
        </p:spPr>
      </p:pic>
      <p:pic>
        <p:nvPicPr>
          <p:cNvPr id="12" name="תמונה 11" descr="תמונה שמכילה גופן, טקסט, גרפיקה, לוג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FD13E20A-EC8B-E008-29DB-F3FAF648EE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2096" y="3152775"/>
            <a:ext cx="1048603" cy="493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1657350"/>
            <a:ext cx="5334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6247342" y="1721539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Driver Drowsiness Dataset סקירה כללית</a:t>
            </a:r>
            <a:endParaRPr dirty="0"/>
          </a:p>
        </p:txBody>
      </p:sp>
      <p:sp>
        <p:nvSpPr>
          <p:cNvPr id="155" name="Google Shape;155;p18"/>
          <p:cNvSpPr txBox="1"/>
          <p:nvPr/>
        </p:nvSpPr>
        <p:spPr>
          <a:xfrm>
            <a:off x="6286500" y="2226364"/>
            <a:ext cx="533400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לצורך הפרויקט נבחר המאגר(DDD)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המכיל41,793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תמונות פנים של נהגים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התמונות נגזרו במקור מתוך מערכות וידאו המתעדות סימולציות ומצבי אמת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היקף רחב זה מאפשר לרשת להיחשף למגוון תרחישים רחב במיוחד.</a:t>
            </a:r>
            <a:endParaRPr dirty="0"/>
          </a:p>
        </p:txBody>
      </p:sp>
      <p:sp>
        <p:nvSpPr>
          <p:cNvPr id="156" name="Google Shape;156;p18"/>
          <p:cNvSpPr txBox="1"/>
          <p:nvPr/>
        </p:nvSpPr>
        <p:spPr>
          <a:xfrm>
            <a:off x="6286500" y="3666061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איזון מחלקות (Class Distribution)</a:t>
            </a:r>
            <a:endParaRPr dirty="0"/>
          </a:p>
        </p:txBody>
      </p:sp>
      <p:sp>
        <p:nvSpPr>
          <p:cNvPr id="157" name="Google Shape;157;p18"/>
          <p:cNvSpPr txBox="1"/>
          <p:nvPr/>
        </p:nvSpPr>
        <p:spPr>
          <a:xfrm>
            <a:off x="6247342" y="4093562"/>
            <a:ext cx="5334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המאגר מחולק לשתי מחלקות בצורה טבעית ומאוזנת יחסית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מה שמפחית את הסיכוי להטיות מודל.</a:t>
            </a:r>
            <a:endParaRPr dirty="0"/>
          </a:p>
        </p:txBody>
      </p:sp>
      <p:sp>
        <p:nvSpPr>
          <p:cNvPr id="158" name="Google Shape;158;p18"/>
          <p:cNvSpPr txBox="1"/>
          <p:nvPr/>
        </p:nvSpPr>
        <p:spPr>
          <a:xfrm>
            <a:off x="-294217" y="806797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מאגר הנתונים (Dataset)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 txBox="1"/>
          <p:nvPr/>
        </p:nvSpPr>
        <p:spPr>
          <a:xfrm>
            <a:off x="6069806" y="571500"/>
            <a:ext cx="5550693" cy="1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מאפיינים חזותיים באוכלוסיית המאגר</a:t>
            </a:r>
            <a:endParaRPr dirty="0"/>
          </a:p>
        </p:txBody>
      </p:sp>
      <p:pic>
        <p:nvPicPr>
          <p:cNvPr id="166" name="Google Shape;16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334125" y="1990725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גיוון רחב</a:t>
            </a:r>
            <a:r>
              <a:rPr lang="he-IL" sz="1500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המאגר מציג פרצופים משלל גיל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א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ים ומגדרים, התורם ליכולת ההכללה(Generalization)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של הרשת בעולם האמיתי.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6334125" y="2828925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אתגרים מובנים</a:t>
            </a:r>
            <a:r>
              <a:rPr lang="he-IL" sz="1500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קיימות תמונות עם תנאי תאורת לילה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צללים חזקים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וכן נהגים החובשים משקפי ראיי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-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אלמנטים הדורשים מודל בעל חילוץ פיצ'רים מעמיק.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6334125" y="3952875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הפוקוס במנח</a:t>
            </a:r>
            <a:r>
              <a:rPr lang="he-IL" sz="1500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אזור העיניים תופס את מרבית משקל הלמידה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כיוון שהוא הסמן המובהק והמיידי ביותר לעייפות הנבדקת על ידי המערכת.</a:t>
            </a:r>
            <a:endParaRPr dirty="0"/>
          </a:p>
        </p:txBody>
      </p:sp>
      <p:pic>
        <p:nvPicPr>
          <p:cNvPr id="170" name="Google Shape;17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06200" y="19716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06200" y="28098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06200" y="3933825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1775" y="4533900"/>
            <a:ext cx="4743450" cy="69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11232620" y="1660698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182" name="Google Shape;182;p20"/>
          <p:cNvSpPr txBox="1"/>
          <p:nvPr/>
        </p:nvSpPr>
        <p:spPr>
          <a:xfrm>
            <a:off x="6581775" y="1600200"/>
            <a:ext cx="46005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אחידות (Resizing)</a:t>
            </a:r>
            <a:r>
              <a:rPr lang="he-IL" sz="1500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כיווץ כלל התמונות לרזולוציה אחידה של 128x128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עבור רשת ה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CNN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sp>
        <p:nvSpPr>
          <p:cNvPr id="183" name="Google Shape;183;p20"/>
          <p:cNvSpPr txBox="1"/>
          <p:nvPr/>
        </p:nvSpPr>
        <p:spPr>
          <a:xfrm>
            <a:off x="11237383" y="240576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184" name="Google Shape;184;p20"/>
          <p:cNvSpPr txBox="1"/>
          <p:nvPr/>
        </p:nvSpPr>
        <p:spPr>
          <a:xfrm>
            <a:off x="6581775" y="2286000"/>
            <a:ext cx="46005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הטיות(Rotation)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סיבוב אקראי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עד15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מעלות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לדימוי מנחי ראש.</a:t>
            </a:r>
            <a:endParaRPr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11193990" y="3047288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6581775" y="2971800"/>
            <a:ext cx="46005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היפוך(Horizontal Flip)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הרחבת הנתונים ומניעת למידת הטיה כיוונית ימנית/שמאלית.</a:t>
            </a:r>
            <a:endParaRPr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11227327" y="3759902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188" name="Google Shape;188;p20"/>
          <p:cNvSpPr txBox="1"/>
          <p:nvPr/>
        </p:nvSpPr>
        <p:spPr>
          <a:xfrm>
            <a:off x="6581775" y="3657600"/>
            <a:ext cx="46005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נרמול מבוססZ-Score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: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סטנדרטיזציה לערכי הפיקסלים (RGB)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42870" y="4752975"/>
            <a:ext cx="1021109" cy="270718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עיבוד מקדים ואוגמנטציה (Data Augmentation)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629602" y="1600200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אופטימיזציה למהירות וחציצת נתונים</a:t>
            </a:r>
            <a:endParaRPr dirty="0"/>
          </a:p>
        </p:txBody>
      </p:sp>
      <p:sp>
        <p:nvSpPr>
          <p:cNvPr id="199" name="Google Shape;199;p21"/>
          <p:cNvSpPr txBox="1"/>
          <p:nvPr/>
        </p:nvSpPr>
        <p:spPr>
          <a:xfrm>
            <a:off x="866775" y="2105025"/>
            <a:ext cx="47434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על מנת להבטיח הערכה סטרילית ואובייקטיבית בסוף התהליך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החלוקה בוצעה בעזרת מזהה Seed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קבוע (42)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האוגמנטציה הופעלה </a:t>
            </a:r>
            <a:r>
              <a:rPr lang="en-US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אך ורק על סט האימון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כדי לשמור על תמונות המבחן כ"עולם אמיתי".</a:t>
            </a:r>
            <a:endParaRPr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5462587" y="3623749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866775" y="3533775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אימון (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:(Train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150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60% (25,075 תמונות).</a:t>
            </a:r>
            <a:endParaRPr lang="he-IL" dirty="0">
              <a:solidFill>
                <a:srgbClr val="C9D1D9"/>
              </a:solidFill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5462586" y="40481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03" name="Google Shape;203;p21"/>
          <p:cNvSpPr txBox="1"/>
          <p:nvPr/>
        </p:nvSpPr>
        <p:spPr>
          <a:xfrm>
            <a:off x="866775" y="3933825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ולידציה 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(Validation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he-IL" sz="150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20% (8,358 תמונות).</a:t>
            </a:r>
            <a:endParaRPr dirty="0">
              <a:solidFill>
                <a:srgbClr val="C9D1D9"/>
              </a:solidFill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5462586" y="444039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866775" y="4333875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מבחן 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(Test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he-IL" sz="150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20% (8,360 תמונות).</a:t>
            </a:r>
            <a:endParaRPr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חלוקת הנתונים(Data Splitting) </a:t>
            </a:r>
            <a:r>
              <a:rPr lang="he-IL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ומניעת זליגה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2150506" y="2590800"/>
            <a:ext cx="7890986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מודלים ואלגוריתמיקה (AI)</a:t>
            </a:r>
            <a:endParaRPr dirty="0"/>
          </a:p>
        </p:txBody>
      </p:sp>
      <p:sp>
        <p:nvSpPr>
          <p:cNvPr id="213" name="Google Shape;213;p22"/>
          <p:cNvSpPr txBox="1"/>
          <p:nvPr/>
        </p:nvSpPr>
        <p:spPr>
          <a:xfrm>
            <a:off x="3338512" y="3752850"/>
            <a:ext cx="5514975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ארכיטקטורות PyTorch </a:t>
            </a:r>
            <a:r>
              <a:rPr lang="he-IL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, 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קוד המודלים והשוואת ביצועים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6344602" y="1600200"/>
            <a:ext cx="4980622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ארכיטקטורה רדודה (Shallow CNN)</a:t>
            </a:r>
            <a:endParaRPr dirty="0"/>
          </a:p>
        </p:txBody>
      </p:sp>
      <p:sp>
        <p:nvSpPr>
          <p:cNvPr id="222" name="Google Shape;222;p23"/>
          <p:cNvSpPr txBox="1"/>
          <p:nvPr/>
        </p:nvSpPr>
        <p:spPr>
          <a:xfrm>
            <a:off x="6581775" y="2105025"/>
            <a:ext cx="4743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מודל הבסיס תוכנן מראש כדי להציב קו התייחסות למדדי ההצלחה:</a:t>
            </a:r>
            <a:endParaRPr dirty="0"/>
          </a:p>
        </p:txBody>
      </p:sp>
      <p:sp>
        <p:nvSpPr>
          <p:cNvPr id="223" name="Google Shape;223;p23"/>
          <p:cNvSpPr txBox="1"/>
          <p:nvPr/>
        </p:nvSpPr>
        <p:spPr>
          <a:xfrm>
            <a:off x="6581775" y="4305300"/>
            <a:ext cx="474345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בקוד ניתן לראות כיצד המידע זורם ישירות אל השכבות המחוברות(Linear)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ללא ריכוך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מה שמוביל לסיכון גבוה ל-Overfitting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sp>
        <p:nvSpPr>
          <p:cNvPr id="224" name="Google Shape;224;p23"/>
          <p:cNvSpPr txBox="1"/>
          <p:nvPr/>
        </p:nvSpPr>
        <p:spPr>
          <a:xfrm>
            <a:off x="11171767" y="2878909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25" name="Google Shape;225;p23"/>
          <p:cNvSpPr txBox="1"/>
          <p:nvPr/>
        </p:nvSpPr>
        <p:spPr>
          <a:xfrm>
            <a:off x="6581775" y="2819400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2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שכבותConvolution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בלבד לחילוץ מאפיינים ראשוני.</a:t>
            </a:r>
            <a:endParaRPr dirty="0"/>
          </a:p>
        </p:txBody>
      </p:sp>
      <p:sp>
        <p:nvSpPr>
          <p:cNvPr id="226" name="Google Shape;226;p23"/>
          <p:cNvSpPr txBox="1"/>
          <p:nvPr/>
        </p:nvSpPr>
        <p:spPr>
          <a:xfrm>
            <a:off x="11205104" y="3306354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27" name="Google Shape;227;p23"/>
          <p:cNvSpPr txBox="1"/>
          <p:nvPr/>
        </p:nvSpPr>
        <p:spPr>
          <a:xfrm>
            <a:off x="6581775" y="3219450"/>
            <a:ext cx="45053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שימוש ב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MaxPool2D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לצמצום מימדים דרסטי מ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128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ל-32.</a:t>
            </a:r>
            <a:endParaRPr dirty="0"/>
          </a:p>
        </p:txBody>
      </p:sp>
      <p:sp>
        <p:nvSpPr>
          <p:cNvPr id="228" name="Google Shape;228;p23"/>
          <p:cNvSpPr txBox="1"/>
          <p:nvPr/>
        </p:nvSpPr>
        <p:spPr>
          <a:xfrm>
            <a:off x="11238441" y="399814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29" name="Google Shape;229;p23"/>
          <p:cNvSpPr txBox="1"/>
          <p:nvPr/>
        </p:nvSpPr>
        <p:spPr>
          <a:xfrm>
            <a:off x="6581775" y="3905250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ללא מנגנוני רגולריזציה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ללא BatchNorm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או Dropout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).</a:t>
            </a:r>
            <a:endParaRPr dirty="0"/>
          </a:p>
        </p:txBody>
      </p:sp>
      <p:sp>
        <p:nvSpPr>
          <p:cNvPr id="230" name="Google Shape;230;p23"/>
          <p:cNvSpPr txBox="1"/>
          <p:nvPr/>
        </p:nvSpPr>
        <p:spPr>
          <a:xfrm>
            <a:off x="1905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 err="1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פיתוח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קו הבסיס: Base CNN Model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304925"/>
            <a:ext cx="5334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629602" y="1600200"/>
            <a:ext cx="498062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עמידות לתנאי אמת ויציבות מרבית</a:t>
            </a:r>
            <a:endParaRPr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866775" y="2105025"/>
            <a:ext cx="474345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המודל המתקדם פותח כדי לפתור את רגישות מודל הבסיס לרעשים:</a:t>
            </a:r>
            <a:endParaRPr dirty="0"/>
          </a:p>
        </p:txBody>
      </p:sp>
      <p:sp>
        <p:nvSpPr>
          <p:cNvPr id="240" name="Google Shape;240;p24"/>
          <p:cNvSpPr txBox="1"/>
          <p:nvPr/>
        </p:nvSpPr>
        <p:spPr>
          <a:xfrm>
            <a:off x="5438775" y="29227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41" name="Google Shape;241;p24"/>
          <p:cNvSpPr txBox="1"/>
          <p:nvPr/>
        </p:nvSpPr>
        <p:spPr>
          <a:xfrm>
            <a:off x="866775" y="2819400"/>
            <a:ext cx="4505325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3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שכבות עומק להפקת עד ל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128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מפות פיצ'רים מדויקות.</a:t>
            </a:r>
            <a:endParaRPr dirty="0"/>
          </a:p>
        </p:txBody>
      </p:sp>
      <p:sp>
        <p:nvSpPr>
          <p:cNvPr id="242" name="Google Shape;242;p24"/>
          <p:cNvSpPr txBox="1"/>
          <p:nvPr/>
        </p:nvSpPr>
        <p:spPr>
          <a:xfrm>
            <a:off x="5434542" y="3303761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43" name="Google Shape;243;p24"/>
          <p:cNvSpPr txBox="1"/>
          <p:nvPr/>
        </p:nvSpPr>
        <p:spPr>
          <a:xfrm>
            <a:off x="866775" y="3219450"/>
            <a:ext cx="45053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Batch Normalization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נכלל לאחר כל קונבולוציה להאצה ויציבות גרדיאנטים.</a:t>
            </a:r>
            <a:endParaRPr dirty="0"/>
          </a:p>
        </p:txBody>
      </p:sp>
      <p:sp>
        <p:nvSpPr>
          <p:cNvPr id="244" name="Google Shape;244;p24"/>
          <p:cNvSpPr txBox="1"/>
          <p:nvPr/>
        </p:nvSpPr>
        <p:spPr>
          <a:xfrm>
            <a:off x="5434541" y="40290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•</a:t>
            </a:r>
            <a:endParaRPr dirty="0"/>
          </a:p>
        </p:txBody>
      </p:sp>
      <p:sp>
        <p:nvSpPr>
          <p:cNvPr id="245" name="Google Shape;245;p24"/>
          <p:cNvSpPr txBox="1"/>
          <p:nvPr/>
        </p:nvSpPr>
        <p:spPr>
          <a:xfrm>
            <a:off x="866775" y="3905250"/>
            <a:ext cx="45053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Dropout (50%)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מנתק אקראית נוירונים בשכבה המלאה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מה שמאלץ את הרשת למצוא תבניות הכללה חזקות יותר.</a:t>
            </a:r>
            <a:endParaRPr dirty="0"/>
          </a:p>
        </p:txBody>
      </p:sp>
      <p:sp>
        <p:nvSpPr>
          <p:cNvPr id="246" name="Google Shape;246;p24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המודל המוצע</a:t>
            </a:r>
            <a:r>
              <a:rPr lang="he-IL" sz="3150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: 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Drowsiness CNN Model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571500" y="1304925"/>
            <a:ext cx="11049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טבלת ההשוואה הבאה מרכזת את ההבדלים המבניים העיקריים שראינו בקוד, אשר מובילים לפער הביצועים המשמעותי שיובא בגרפים.</a:t>
            </a:r>
            <a:endParaRPr dirty="0"/>
          </a:p>
        </p:txBody>
      </p:sp>
      <p:graphicFrame>
        <p:nvGraphicFramePr>
          <p:cNvPr id="253" name="Google Shape;253;p25"/>
          <p:cNvGraphicFramePr/>
          <p:nvPr>
            <p:extLst>
              <p:ext uri="{D42A27DB-BD31-4B8C-83A1-F6EECF244321}">
                <p14:modId xmlns:p14="http://schemas.microsoft.com/office/powerpoint/2010/main" val="3264975978"/>
              </p:ext>
            </p:extLst>
          </p:nvPr>
        </p:nvGraphicFramePr>
        <p:xfrm>
          <a:off x="571500" y="1781175"/>
          <a:ext cx="11049000" cy="3209875"/>
        </p:xfrm>
        <a:graphic>
          <a:graphicData uri="http://schemas.openxmlformats.org/drawingml/2006/table">
            <a:tbl>
              <a:tblPr firstRow="1" bandRow="1">
                <a:noFill/>
                <a:tableStyleId>{140BE5CC-F8BA-4D73-AC29-CB71A29912DC}</a:tableStyleId>
              </a:tblPr>
              <a:tblGrid>
                <a:gridCol w="318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9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7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975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מרכיב</a:t>
                      </a:r>
                      <a:r>
                        <a:rPr lang="he-IL" sz="1650" b="1" i="0" u="none" strike="noStrike" cap="none" dirty="0">
                          <a:solidFill>
                            <a:srgbClr val="DEFF9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 /</a:t>
                      </a: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 טכנולוגיה רשתית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מודל בסיס (Base CNN)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DEFF9A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המודל המוצע (Drowsiness CNN)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Convolution</a:t>
                      </a:r>
                      <a:r>
                        <a:rPr lang="he-IL" sz="1500" b="1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 </a:t>
                      </a: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שכבות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2 שכבות בסיסיות 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(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רדוד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3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שכבות עמוקות לחילוץ מידע דק</a:t>
                      </a:r>
                      <a:endParaRPr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יציבות (Batch Norm)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לא קיים במודל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מוטמע בכל שכבה למניעת שגיאות חישוב</a:t>
                      </a:r>
                      <a:endParaRPr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רגולריזציה (Dropout)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ללא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.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סיכון גבוה ל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-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Overfitting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פעיל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(50%)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למניעת זיהוי שגוי</a:t>
                      </a:r>
                      <a:endParaRPr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שכבות סיווג (Linear Layers)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32x32x32 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Heebo"/>
                          <a:ea typeface="Heebo"/>
                          <a:cs typeface="Heebo"/>
                          <a:sym typeface="Heebo"/>
                        </a:rPr>
                        <a:t>נוירונים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מכפלת 128x16x16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 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נוירונים 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(</a:t>
                      </a: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דחוס ומדויק יותר</a:t>
                      </a:r>
                      <a:r>
                        <a:rPr lang="he-IL" sz="1500" b="0" i="0" u="none" strike="noStrike" cap="none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Heebo"/>
                          <a:ea typeface="Heebo"/>
                          <a:cs typeface="Heebo"/>
                          <a:sym typeface="Heebo"/>
                        </a:rPr>
                        <a:t>)</a:t>
                      </a:r>
                      <a:endParaRPr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4" name="Google Shape;254;p25"/>
          <p:cNvSpPr/>
          <p:nvPr/>
        </p:nvSpPr>
        <p:spPr>
          <a:xfrm>
            <a:off x="8438852" y="2424112"/>
            <a:ext cx="318164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5"/>
          <p:cNvSpPr/>
          <p:nvPr/>
        </p:nvSpPr>
        <p:spPr>
          <a:xfrm>
            <a:off x="5278933" y="2424112"/>
            <a:ext cx="315991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571500" y="2424112"/>
            <a:ext cx="470743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8438852" y="3062287"/>
            <a:ext cx="318164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278933" y="3062287"/>
            <a:ext cx="315991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3062287"/>
            <a:ext cx="470743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8438852" y="3700462"/>
            <a:ext cx="318164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278933" y="3700462"/>
            <a:ext cx="315991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3700462"/>
            <a:ext cx="470743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8438852" y="4338637"/>
            <a:ext cx="318164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278933" y="4338637"/>
            <a:ext cx="315991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338637"/>
            <a:ext cx="470743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8438852" y="4976812"/>
            <a:ext cx="3181647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278933" y="4976812"/>
            <a:ext cx="3159918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4976812"/>
            <a:ext cx="4707433" cy="9525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9050" y="47625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סיכום </a:t>
            </a:r>
            <a:r>
              <a:rPr lang="en-US" sz="3150" b="0" i="0" u="none" strike="noStrike" cap="none" dirty="0" err="1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הבדלי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</a:t>
            </a:r>
            <a:r>
              <a:rPr lang="en-US" sz="3150" b="0" i="0" u="none" strike="noStrike" cap="none" dirty="0" err="1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הארכיטקטורה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6208" y="974725"/>
            <a:ext cx="11049000" cy="5076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571500" y="5074907"/>
            <a:ext cx="11049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המודל המוצע 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הירוק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מתכנס לאפס שגיאות בצורה חלקה ומהירה כבר ב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Epochs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המוקדמים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זאת אודות לשימוש האופטימלי בנרמול משקלים שמונע תנודתיות שמאפיינת את מודל הבסיס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הסגול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sp>
        <p:nvSpPr>
          <p:cNvPr id="277" name="Google Shape;277;p26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השוואת התכנסות האימון (Training Loss)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6069806" y="571500"/>
            <a:ext cx="5550693" cy="96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השוואת דיוק ואובדן בשלב האימות (Validation)</a:t>
            </a:r>
            <a:endParaRPr dirty="0"/>
          </a:p>
        </p:txBody>
      </p:sp>
      <p:sp>
        <p:nvSpPr>
          <p:cNvPr id="285" name="Google Shape;285;p27"/>
          <p:cNvSpPr txBox="1"/>
          <p:nvPr/>
        </p:nvSpPr>
        <p:spPr>
          <a:xfrm>
            <a:off x="6334125" y="1686699"/>
            <a:ext cx="555069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התכנסות לאורך</a:t>
            </a:r>
            <a:r>
              <a:rPr lang="he-IL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15 </a:t>
            </a: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Epochs</a:t>
            </a:r>
            <a:endParaRPr dirty="0"/>
          </a:p>
        </p:txBody>
      </p:sp>
      <p:sp>
        <p:nvSpPr>
          <p:cNvPr id="286" name="Google Shape;286;p27"/>
          <p:cNvSpPr txBox="1"/>
          <p:nvPr/>
        </p:nvSpPr>
        <p:spPr>
          <a:xfrm>
            <a:off x="6466283" y="2006426"/>
            <a:ext cx="5286375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בגרפים ניתן לראות בבירור את ההבדל בין </a:t>
            </a:r>
            <a:r>
              <a:rPr lang="en-US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מודל הבסיס 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הקו המקווקו האדום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לבין </a:t>
            </a:r>
            <a:r>
              <a:rPr lang="en-US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המודל המוצע 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הקו הירוק הרציף</a:t>
            </a:r>
            <a:r>
              <a:rPr lang="he-IL" sz="1500" b="1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על גבי נתוני האימות.</a:t>
            </a:r>
            <a:endParaRPr dirty="0"/>
          </a:p>
        </p:txBody>
      </p:sp>
      <p:sp>
        <p:nvSpPr>
          <p:cNvPr id="287" name="Google Shape;287;p27"/>
          <p:cNvSpPr txBox="1"/>
          <p:nvPr/>
        </p:nvSpPr>
        <p:spPr>
          <a:xfrm>
            <a:off x="6466283" y="3142760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Validation Accuracy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המודל המוצע מגיע לדיוק אופטימלי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מעל99.9%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ושומר על יציבות גבוהה.</a:t>
            </a:r>
            <a:endParaRPr dirty="0"/>
          </a:p>
        </p:txBody>
      </p:sp>
      <p:sp>
        <p:nvSpPr>
          <p:cNvPr id="288" name="Google Shape;288;p27"/>
          <p:cNvSpPr txBox="1"/>
          <p:nvPr/>
        </p:nvSpPr>
        <p:spPr>
          <a:xfrm>
            <a:off x="6368652" y="3953020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Validation Loss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האובדן במודל המוצע צונח משמעותית ומתכנס קרוב לאפס ללא קפיצות חריגות, בניגוד למודל הבסיס שמפגין תנודתיות גבוהה בגלל היעדר Dropout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ו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BatchNorm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pic>
        <p:nvPicPr>
          <p:cNvPr id="289" name="Google Shape;289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06200" y="31908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06200" y="402907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טקסט, עלילה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96741F32-60BE-120F-ADEF-E9173C2E9B1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0117" b="746"/>
          <a:stretch>
            <a:fillRect/>
          </a:stretch>
        </p:blipFill>
        <p:spPr>
          <a:xfrm>
            <a:off x="657114" y="-196045"/>
            <a:ext cx="5010649" cy="2721844"/>
          </a:xfrm>
          <a:prstGeom prst="rect">
            <a:avLst/>
          </a:prstGeom>
        </p:spPr>
      </p:pic>
      <p:pic>
        <p:nvPicPr>
          <p:cNvPr id="5" name="תמונה 4" descr="תמונה שמכילה טקסט, עלילה, תרשים, קו&#10;&#10;תוכן בינה מלאכותית גנרטיבית עשוי להיות שגוי.">
            <a:extLst>
              <a:ext uri="{FF2B5EF4-FFF2-40B4-BE49-F238E27FC236}">
                <a16:creationId xmlns:a16="http://schemas.microsoft.com/office/drawing/2014/main" id="{BF963915-3E66-DCB5-F824-9B222BB2EF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767" t="-29214" r="-17959" b="557"/>
          <a:stretch>
            <a:fillRect/>
          </a:stretch>
        </p:blipFill>
        <p:spPr>
          <a:xfrm>
            <a:off x="657114" y="1540996"/>
            <a:ext cx="6957350" cy="439997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7294" y="2419350"/>
            <a:ext cx="243066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9544" y="2419350"/>
            <a:ext cx="243066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61794" y="2419350"/>
            <a:ext cx="243066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24044" y="2419350"/>
            <a:ext cx="243066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571500" y="1304925"/>
            <a:ext cx="11049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התוצאות חושבו על גבי סט המבחן הסטרילי</a:t>
            </a:r>
            <a:r>
              <a:rPr lang="he-IL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8,360</a:t>
            </a:r>
            <a:r>
              <a:rPr lang="he-IL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תמונות חדשות לחלוטין למודל</a:t>
            </a:r>
            <a:r>
              <a:rPr lang="he-IL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).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המודל המוצע הפגין ביצועים פנומנליים על המידע </a:t>
            </a:r>
            <a:r>
              <a:rPr lang="he-IL" sz="18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שלא נראה קודם</a:t>
            </a:r>
            <a:r>
              <a:rPr lang="en-US" sz="18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sp>
        <p:nvSpPr>
          <p:cNvPr id="301" name="Google Shape;301;p28"/>
          <p:cNvSpPr txBox="1"/>
          <p:nvPr/>
        </p:nvSpPr>
        <p:spPr>
          <a:xfrm>
            <a:off x="1127819" y="2809875"/>
            <a:ext cx="164961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100%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1127819" y="3743325"/>
            <a:ext cx="1649610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Accuracy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303" name="Google Shape;303;p28"/>
          <p:cNvSpPr txBox="1"/>
          <p:nvPr/>
        </p:nvSpPr>
        <p:spPr>
          <a:xfrm>
            <a:off x="3890069" y="2809875"/>
            <a:ext cx="164961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100%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3890069" y="3743325"/>
            <a:ext cx="1649610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Precision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305" name="Google Shape;305;p28"/>
          <p:cNvSpPr txBox="1"/>
          <p:nvPr/>
        </p:nvSpPr>
        <p:spPr>
          <a:xfrm>
            <a:off x="6652319" y="2809875"/>
            <a:ext cx="164961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100%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652319" y="3743325"/>
            <a:ext cx="1649610" cy="469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Recall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307" name="Google Shape;307;p28"/>
          <p:cNvSpPr txBox="1"/>
          <p:nvPr/>
        </p:nvSpPr>
        <p:spPr>
          <a:xfrm>
            <a:off x="9414569" y="2809875"/>
            <a:ext cx="164961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0" i="0" u="none" strike="noStrike" cap="none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100%</a:t>
            </a:r>
            <a:endParaRPr/>
          </a:p>
        </p:txBody>
      </p:sp>
      <p:sp>
        <p:nvSpPr>
          <p:cNvPr id="308" name="Google Shape;308;p28"/>
          <p:cNvSpPr txBox="1"/>
          <p:nvPr/>
        </p:nvSpPr>
        <p:spPr>
          <a:xfrm>
            <a:off x="9414569" y="3743325"/>
            <a:ext cx="1649610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F1-Score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dirty="0"/>
          </a:p>
        </p:txBody>
      </p:sp>
      <p:sp>
        <p:nvSpPr>
          <p:cNvPr id="309" name="Google Shape;309;p28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הערכת ביצועים סופית </a:t>
            </a:r>
            <a:r>
              <a:rPr lang="he-IL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(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קבוצת מבחן טהורה</a:t>
            </a:r>
            <a:r>
              <a:rPr lang="he-IL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)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886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9342" y="-290252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6069806" y="571500"/>
            <a:ext cx="5550693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מטריצת בלבול ועקומת ROC</a:t>
            </a:r>
            <a:endParaRPr dirty="0"/>
          </a:p>
        </p:txBody>
      </p:sp>
      <p:sp>
        <p:nvSpPr>
          <p:cNvPr id="317" name="Google Shape;317;p29"/>
          <p:cNvSpPr txBox="1"/>
          <p:nvPr/>
        </p:nvSpPr>
        <p:spPr>
          <a:xfrm>
            <a:off x="6334125" y="1400175"/>
            <a:ext cx="5550693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ניתוח שגיאות מדויק (Test Set)</a:t>
            </a:r>
            <a:endParaRPr dirty="0"/>
          </a:p>
        </p:txBody>
      </p:sp>
      <p:sp>
        <p:nvSpPr>
          <p:cNvPr id="318" name="Google Shape;318;p29"/>
          <p:cNvSpPr txBox="1"/>
          <p:nvPr/>
        </p:nvSpPr>
        <p:spPr>
          <a:xfrm>
            <a:off x="6466283" y="1788765"/>
            <a:ext cx="528637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הערכת המודל על למעלה מ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8,300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תמונות חדשות מציגה תוצאות חסרות תקדים שיבטיחו אפס התראות שווא בפעולה חיה.</a:t>
            </a:r>
            <a:endParaRPr dirty="0"/>
          </a:p>
        </p:txBody>
      </p:sp>
      <p:sp>
        <p:nvSpPr>
          <p:cNvPr id="319" name="Google Shape;319;p29"/>
          <p:cNvSpPr txBox="1"/>
          <p:nvPr/>
        </p:nvSpPr>
        <p:spPr>
          <a:xfrm>
            <a:off x="6334125" y="2619375"/>
            <a:ext cx="4953000" cy="1038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מטריצת הבלבול (Confusion Matrix)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המודל סיווג נכונה4,469 תמונות 'עייפות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'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ו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3,889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תמונות '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ערניות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',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עם 2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שגיאות סיווג בודדות בלבד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מתוך כל המאגר!</a:t>
            </a:r>
            <a:endParaRPr dirty="0"/>
          </a:p>
        </p:txBody>
      </p:sp>
      <p:sp>
        <p:nvSpPr>
          <p:cNvPr id="320" name="Google Shape;320;p29"/>
          <p:cNvSpPr txBox="1"/>
          <p:nvPr/>
        </p:nvSpPr>
        <p:spPr>
          <a:xfrm>
            <a:off x="6334125" y="3771900"/>
            <a:ext cx="49530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עקומת ROC</a:t>
            </a:r>
            <a:r>
              <a:rPr lang="he-IL" sz="15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: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הדיוק המוחלט מתבטא בעקומה מושלמת המייצרת שטח מתחת לגרף (AUC)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בערך חסר תקדים של 1.0000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pic>
        <p:nvPicPr>
          <p:cNvPr id="321" name="Google Shape;321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06200" y="2600325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06200" y="3752850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 descr="תמונה שמכילה טקסט, תרשים, צילום מסך, קו">
            <a:extLst>
              <a:ext uri="{FF2B5EF4-FFF2-40B4-BE49-F238E27FC236}">
                <a16:creationId xmlns:a16="http://schemas.microsoft.com/office/drawing/2014/main" id="{43E16F30-E60D-4ACB-E145-7767007762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105" y="1627748"/>
            <a:ext cx="5704135" cy="33421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38337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30"/>
          <p:cNvSpPr txBox="1"/>
          <p:nvPr/>
        </p:nvSpPr>
        <p:spPr>
          <a:xfrm>
            <a:off x="6153150" y="1197746"/>
            <a:ext cx="560070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שלב היישום בפועל (Production)</a:t>
            </a:r>
            <a:endParaRPr dirty="0"/>
          </a:p>
        </p:txBody>
      </p:sp>
      <p:sp>
        <p:nvSpPr>
          <p:cNvPr id="330" name="Google Shape;330;p30"/>
          <p:cNvSpPr txBox="1"/>
          <p:nvPr/>
        </p:nvSpPr>
        <p:spPr>
          <a:xfrm>
            <a:off x="6457950" y="1524000"/>
            <a:ext cx="53340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במערכת המציאותית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המודל שלנו מוזן בתזרים וידאו רציף בזמן אמת.</a:t>
            </a:r>
            <a:endParaRPr dirty="0"/>
          </a:p>
        </p:txBody>
      </p:sp>
      <p:sp>
        <p:nvSpPr>
          <p:cNvPr id="331" name="Google Shape;331;p30"/>
          <p:cNvSpPr txBox="1"/>
          <p:nvPr/>
        </p:nvSpPr>
        <p:spPr>
          <a:xfrm>
            <a:off x="6354233" y="2003077"/>
            <a:ext cx="50006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אלגוריתם בסיסי קודם 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(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כגון YOLO או Cascade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יאתר את מיקום הפנים בתמונה ויסמן אותם במלבן גבול (Bounding Box)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endParaRPr dirty="0"/>
          </a:p>
        </p:txBody>
      </p:sp>
      <p:sp>
        <p:nvSpPr>
          <p:cNvPr id="332" name="Google Shape;332;p30"/>
          <p:cNvSpPr txBox="1"/>
          <p:nvPr/>
        </p:nvSpPr>
        <p:spPr>
          <a:xfrm>
            <a:off x="6286500" y="2678928"/>
            <a:ext cx="51530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לאחר מכן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אזור העיניים נשלח ישירות למודל ה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-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DrowsinessCNN</a:t>
            </a:r>
            <a:r>
              <a:rPr lang="he-IL" sz="1500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שלנו.</a:t>
            </a:r>
            <a:endParaRPr dirty="0"/>
          </a:p>
        </p:txBody>
      </p:sp>
      <p:sp>
        <p:nvSpPr>
          <p:cNvPr id="333" name="Google Shape;333;p30"/>
          <p:cNvSpPr txBox="1"/>
          <p:nvPr/>
        </p:nvSpPr>
        <p:spPr>
          <a:xfrm>
            <a:off x="6362699" y="3429000"/>
            <a:ext cx="5000625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המודל מעבד את הפלט בתוך אלפיות השנייה</a:t>
            </a:r>
            <a:r>
              <a:rPr lang="he-IL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,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Heebo"/>
                <a:ea typeface="Heebo"/>
                <a:cs typeface="Heebo"/>
                <a:sym typeface="Heebo"/>
              </a:rPr>
              <a:t> ומפעיל התרעה במצב סכנה מידי.</a:t>
            </a:r>
            <a:endParaRPr dirty="0"/>
          </a:p>
        </p:txBody>
      </p:sp>
      <p:pic>
        <p:nvPicPr>
          <p:cNvPr id="334" name="Google Shape;33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987955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0"/>
          <p:cNvSpPr txBox="1"/>
          <p:nvPr/>
        </p:nvSpPr>
        <p:spPr>
          <a:xfrm>
            <a:off x="19050" y="476250"/>
            <a:ext cx="11601450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אינפרנס</a:t>
            </a:r>
            <a:r>
              <a:rPr lang="he-IL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(Inference)</a:t>
            </a:r>
            <a:r>
              <a:rPr lang="he-IL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 </a:t>
            </a:r>
            <a:r>
              <a:rPr lang="en-US" sz="3150" b="0" i="0" u="none" strike="noStrike" cap="none" dirty="0">
                <a:solidFill>
                  <a:srgbClr val="DEFF9A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בזמן אמת</a:t>
            </a:r>
            <a:endParaRPr dirty="0"/>
          </a:p>
        </p:txBody>
      </p:sp>
      <p:pic>
        <p:nvPicPr>
          <p:cNvPr id="336" name="Google Shape;336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06200" y="2059803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06200" y="2703686"/>
            <a:ext cx="1143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506200" y="3499236"/>
            <a:ext cx="1143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3340655" y="1582191"/>
            <a:ext cx="5510688" cy="80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 dirty="0">
                <a:solidFill>
                  <a:srgbClr val="DEFF9A"/>
                </a:solidFill>
                <a:latin typeface="Heebo"/>
                <a:ea typeface="Heebo"/>
                <a:cs typeface="Heebo"/>
                <a:sym typeface="Heebo"/>
              </a:rPr>
              <a:t>סיכום ומבט לעתיד</a:t>
            </a:r>
            <a:endParaRPr dirty="0"/>
          </a:p>
        </p:txBody>
      </p:sp>
      <p:sp>
        <p:nvSpPr>
          <p:cNvPr id="345" name="Google Shape;345;p31"/>
          <p:cNvSpPr txBox="1"/>
          <p:nvPr/>
        </p:nvSpPr>
        <p:spPr>
          <a:xfrm>
            <a:off x="2286000" y="2744241"/>
            <a:ext cx="7620000" cy="144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הפרויקט הוכיח בהצלחה יתרה את יכולתה של הלמידה העמוקה (CNN)</a:t>
            </a:r>
            <a:r>
              <a:rPr lang="he-IL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לשמש כמערכת מצילת חיים פעילה ואמינה</a:t>
            </a:r>
            <a:r>
              <a:rPr lang="he-IL" sz="1950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.</a:t>
            </a:r>
            <a:r>
              <a:rPr lang="en-US" sz="1950" b="0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השלב הבא הוא אינטגרציה מלאה בחומרת הרכב וביצוע בדיקות כביש.</a:t>
            </a:r>
            <a:endParaRPr dirty="0"/>
          </a:p>
        </p:txBody>
      </p:sp>
      <p:sp>
        <p:nvSpPr>
          <p:cNvPr id="346" name="Google Shape;346;p31"/>
          <p:cNvSpPr txBox="1"/>
          <p:nvPr/>
        </p:nvSpPr>
        <p:spPr>
          <a:xfrm>
            <a:off x="3865721" y="4313783"/>
            <a:ext cx="4460557" cy="634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25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תודה </a:t>
            </a:r>
            <a:r>
              <a:rPr lang="en-US" sz="4125" b="1" i="0" u="none" strike="noStrike" cap="none" dirty="0" err="1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רב</a:t>
            </a:r>
            <a:r>
              <a:rPr lang="he-IL" sz="4125" b="1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ה!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1238</Words>
  <Application>Microsoft Office PowerPoint</Application>
  <PresentationFormat>מסך רחב</PresentationFormat>
  <Paragraphs>128</Paragraphs>
  <Slides>19</Slides>
  <Notes>19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19</vt:i4>
      </vt:variant>
    </vt:vector>
  </HeadingPairs>
  <TitlesOfParts>
    <vt:vector size="24" baseType="lpstr">
      <vt:lpstr>Calibri</vt:lpstr>
      <vt:lpstr>Heebo ExtraBold</vt:lpstr>
      <vt:lpstr>Heebo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Noy Leibovitch</cp:lastModifiedBy>
  <cp:revision>7</cp:revision>
  <dcterms:modified xsi:type="dcterms:W3CDTF">2026-02-22T14:44:32Z</dcterms:modified>
</cp:coreProperties>
</file>